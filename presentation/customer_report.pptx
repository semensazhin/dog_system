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200" b="1">
                <a:solidFill>
                  <a:srgbClr val="FFFFFF"/>
                </a:solidFill>
                <a:latin typeface="Calibri"/>
              </a:rPr>
              <a:t>Детекция дефекации собак по видео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C9D8E8"/>
                </a:solidFill>
                <a:latin typeface="Calibri"/>
              </a:rPr>
              <a:t>Отчёт о проделанной работе: эксперименты, результаты, развёртывание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07B39"/>
                </a:solidFill>
                <a:latin typeface="Calibri"/>
              </a:rPr>
              <a:t>55 серий экспериментов · 166 видео · оценка по источникам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F4E79"/>
                </a:solidFill>
                <a:latin typeface="Calibri"/>
              </a:rPr>
              <a:t>Постановка задачи и данные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3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9AA5B1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B"/>
                </a:solidFill>
                <a:latin typeface="Calibri"/>
              </a:rPr>
              <a:t>Цель: зафиксировать, что и на чём измерялось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B2733"/>
                </a:solidFill>
                <a:latin typeface="Calibri"/>
              </a:rPr>
              <a:t>•  Задача: бинарная классификация видео «дефекация / норма» по движению скелета собаки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B2733"/>
                </a:solidFill>
                <a:latin typeface="Calibri"/>
              </a:rPr>
              <a:t>•  Данные: 166 видео, 106 класса «норма», 60 класса «дефекация»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B2733"/>
                </a:solidFill>
                <a:latin typeface="Calibri"/>
              </a:rPr>
              <a:t>•  64 видео получены с камер парков, и все они относятся к классу «норма»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B2733"/>
                </a:solidFill>
                <a:latin typeface="Calibri"/>
              </a:rPr>
              <a:t>•  Метрика: ROC-AUC по видео (одна оценка на ролик), также AP, F1, доля ложных срабатываний на камерах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B2733"/>
                </a:solidFill>
                <a:latin typeface="Calibri"/>
              </a:rPr>
              <a:t>•  Протокол: 5 фолдов с разбиением по источникам, несколько сидов, среднее ± стандартное отклонение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783080"/>
            <a:ext cx="4663440" cy="3749039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78040" y="1874519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4E79"/>
                </a:solidFill>
                <a:latin typeface="Calibri"/>
              </a:rPr>
              <a:t>Особенность данных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2377440"/>
            <a:ext cx="42062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B2733"/>
                </a:solidFill>
                <a:latin typeface="Calibri"/>
              </a:rPr>
              <a:t>Классификатор, которому доступны только разрешение, fps и длительность ролика, даёт ROC-AUC 0,806.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B2733"/>
                </a:solidFill>
                <a:latin typeface="Calibri"/>
              </a:rPr>
              <a:t>Ролики 1080p составляют 65 из 106 нормальных и 1 из 60 положительных.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B2733"/>
                </a:solidFill>
                <a:latin typeface="Calibri"/>
              </a:rPr>
              <a:t>Результаты моделей читаются на фоне этой нижней планки.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F4E79"/>
                </a:solidFill>
                <a:latin typeface="Calibri"/>
              </a:rPr>
              <a:t>Конвейер обработки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3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9AA5B1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B"/>
                </a:solidFill>
                <a:latin typeface="Calibri"/>
              </a:rPr>
              <a:t>Цель: описать цепочку от кадра до решения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691640" cy="155448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03120"/>
            <a:ext cx="1600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Calibri"/>
              </a:rPr>
              <a:t>Видеопоток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97480"/>
            <a:ext cx="1600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1B2733"/>
                </a:solidFill>
                <a:latin typeface="Calibri"/>
              </a:rPr>
              <a:t>YouTube live,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1B2733"/>
                </a:solidFill>
                <a:latin typeface="Calibri"/>
              </a:rPr>
              <a:t>yt-dlp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2011680"/>
            <a:ext cx="1691640" cy="155448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2103120"/>
            <a:ext cx="1600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Детектор собаки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697480"/>
            <a:ext cx="1600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YOLO,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рамка и трекинг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011680"/>
            <a:ext cx="1691640" cy="155448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103120"/>
            <a:ext cx="1600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Calibri"/>
              </a:rPr>
              <a:t>Поза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697480"/>
            <a:ext cx="1600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1B2733"/>
                </a:solidFill>
                <a:latin typeface="Calibri"/>
              </a:rPr>
              <a:t>20 ключевых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1B2733"/>
                </a:solidFill>
                <a:latin typeface="Calibri"/>
              </a:rPr>
              <a:t>точек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011680"/>
            <a:ext cx="1691640" cy="155448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2103120"/>
            <a:ext cx="1600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Calibri"/>
              </a:rPr>
              <a:t>Признаки окна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697480"/>
            <a:ext cx="1600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1B2733"/>
                </a:solidFill>
                <a:latin typeface="Calibri"/>
              </a:rPr>
              <a:t>нормировка,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1B2733"/>
                </a:solidFill>
                <a:latin typeface="Calibri"/>
              </a:rPr>
              <a:t>окно T шагов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011680"/>
            <a:ext cx="1691640" cy="155448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2103120"/>
            <a:ext cx="1600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Классификатор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2697480"/>
            <a:ext cx="1600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LSTM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21240" y="2011680"/>
            <a:ext cx="1691640" cy="155448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66960" y="2103120"/>
            <a:ext cx="1600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Calibri"/>
              </a:rPr>
              <a:t>Решение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2697480"/>
            <a:ext cx="1600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1B2733"/>
                </a:solidFill>
                <a:latin typeface="Calibri"/>
              </a:rPr>
              <a:t>порог, сглаживание,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1B2733"/>
                </a:solidFill>
                <a:latin typeface="Calibri"/>
              </a:rPr>
              <a:t>подтверждение 2 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931920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B2733"/>
                </a:solidFill>
                <a:latin typeface="Calibri"/>
              </a:rPr>
              <a:t>•  Сервис video-scan: FastAPI в Docker, чтение потоков, сохранение клипов, выгрузка на Яндекс Диск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2733"/>
                </a:solidFill>
                <a:latin typeface="Calibri"/>
              </a:rPr>
              <a:t>•  Ниже оцениваются две изменяемые части: детектор собаки (слайд 8) и классификатор (слайды 5–7)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2733"/>
                </a:solidFill>
                <a:latin typeface="Calibri"/>
              </a:rPr>
              <a:t>•  Модель позы (20 точек) в экспериментах не менялась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F4E79"/>
                </a:solidFill>
                <a:latin typeface="Calibri"/>
              </a:rPr>
              <a:t>Контроль корректности оценки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3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9AA5B1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B"/>
                </a:solidFill>
                <a:latin typeface="Calibri"/>
              </a:rPr>
              <a:t>Цель: показать, насколько прежние цифры отличались от честных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8308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1463040"/>
                <a:gridCol w="603504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Оценка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Протокол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Первая версия (Colab)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0,964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случайное разбиение окон, оценка на окнах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Базовая модель lstm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0,855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разбиение по источникам, оценка по видео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733"/>
                          </a:solidFill>
                          <a:latin typeface="Calibri"/>
                        </a:rPr>
                        <a:t>Лучшая конфигурация lstm</a:t>
                      </a:r>
                    </a:p>
                  </a:txBody>
                  <a:tcPr anchor="ctr"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2733"/>
                          </a:solidFill>
                          <a:latin typeface="Calibri"/>
                        </a:rPr>
                        <a:t>0,911</a:t>
                      </a:r>
                    </a:p>
                  </a:txBody>
                  <a:tcPr anchor="ctr"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2733"/>
                          </a:solidFill>
                          <a:latin typeface="Calibri"/>
                        </a:rPr>
                        <a:t>то же, окно 30 шагов</a:t>
                      </a:r>
                    </a:p>
                  </a:txBody>
                  <a:tcPr anchor="ctr">
                    <a:solidFill>
                      <a:srgbClr val="DCE8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Контроль: только метаданные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0,806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разрешение, fps, длительность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Контроль: форма рамки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0,715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размер и пропорции bbox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4937760"/>
            <a:ext cx="11064240" cy="82296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956048"/>
            <a:ext cx="106984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733"/>
                </a:solidFill>
                <a:latin typeface="Calibri"/>
              </a:rPr>
              <a:t>Цифры первой версии завышены утечкой между соседними окнами одного ролика и лёгкостью задачи «камера против стока». Честная оценка находится в диапазоне 0,85–0,91.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F4E79"/>
                </a:solidFill>
                <a:latin typeface="Calibri"/>
              </a:rPr>
              <a:t>Сравнение архитектур классификатора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3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9AA5B1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B"/>
                </a:solidFill>
                <a:latin typeface="Calibri"/>
              </a:rPr>
              <a:t>Цель: выяснить, зависит ли качество от типа модели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8308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828800"/>
                <a:gridCol w="1463040"/>
                <a:gridCol w="2194560"/>
                <a:gridCol w="246888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Модель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AP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F1 (лучший порог)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ложные срабатывания на камерах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LSTM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0,855±0,014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0,817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0,782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0,039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TCN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0,842±0,026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0,827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0,772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0,097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Transformer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0,834±0,024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0,797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0,762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0,097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Mamba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0,846±0,028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0,801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0,789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0,103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ST-GCN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0,799±0,021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0,787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0,721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0,503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GBM (признаки по окну)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0,872±0,018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0,854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0,783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0,054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B7B"/>
                </a:solidFill>
                <a:latin typeface="Calibri"/>
              </a:rPr>
              <a:t>Базовый протокол: окно 45 шагов, 100 видео, порог доли кадров с позой 0,9. ± — стандартное отклонение по сидам.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760720"/>
            <a:ext cx="11064240" cy="59436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779007"/>
            <a:ext cx="10698480" cy="5577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733"/>
                </a:solidFill>
                <a:latin typeface="Calibri"/>
              </a:rPr>
              <a:t>Разница между LSTM, TCN, Transformer и Mamba находится в пределах шума. Механизмы внимания и Mamba выигрыша не дали. ST-GCN (только точки, без признаков) слабее остальных.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F4E79"/>
                </a:solidFill>
                <a:latin typeface="Calibri"/>
              </a:rPr>
              <a:t>Группировка ключевых точек тела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3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9AA5B1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B"/>
                </a:solidFill>
                <a:latin typeface="Calibri"/>
              </a:rPr>
              <a:t>Цель: проверить, повышает ли качество подмножество точек</a:t>
            </a:r>
          </a:p>
        </p:txBody>
      </p:sp>
      <p:pic>
        <p:nvPicPr>
          <p:cNvPr id="6" name="Picture 5" descr="groups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1600200"/>
            <a:ext cx="10287000" cy="3566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0749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B2733"/>
                </a:solidFill>
                <a:latin typeface="Calibri"/>
              </a:rPr>
              <a:t>•  Все 20 точек: tcn 0,854±0,020; таз+хвост 0,846±0,015; только передние лапы 0,838±0,024 (с ложными срабатываниями на камерах); хвост и таз по отдельности ниже 0,78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760720"/>
            <a:ext cx="11064240" cy="59436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779007"/>
            <a:ext cx="10698480" cy="5577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733"/>
                </a:solidFill>
                <a:latin typeface="Calibri"/>
              </a:rPr>
              <a:t>Ни одна группа не превзошла полный набор из 20 точек ни в базовом, ни в лучшем режиме. Важность отдельных групп нестабильна между режимами: сигнал распределён по всему телу.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F4E79"/>
                </a:solidFill>
                <a:latin typeface="Calibri"/>
              </a:rPr>
              <a:t>Окно, признаки и лучшая конфигурация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3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9AA5B1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B"/>
                </a:solidFill>
                <a:latin typeface="Calibri"/>
              </a:rPr>
              <a:t>Цель: найти параметры, дающие максимум на честном протоколе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83080"/>
          <a:ext cx="93268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09728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Конфигурация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Видео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lstm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tcn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T=45, порог 0,9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0,855±0,014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0,842±0,026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733"/>
                          </a:solidFill>
                          <a:latin typeface="Calibri"/>
                        </a:rPr>
                        <a:t>T=30, порог 0,7, простые признаки</a:t>
                      </a:r>
                    </a:p>
                  </a:txBody>
                  <a:tcPr anchor="ctr"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2733"/>
                          </a:solidFill>
                          <a:latin typeface="Calibri"/>
                        </a:rPr>
                        <a:t>126</a:t>
                      </a:r>
                    </a:p>
                  </a:txBody>
                  <a:tcPr anchor="ctr"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2733"/>
                          </a:solidFill>
                          <a:latin typeface="Calibri"/>
                        </a:rPr>
                        <a:t>0,911±0,017</a:t>
                      </a:r>
                    </a:p>
                  </a:txBody>
                  <a:tcPr anchor="ctr"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2733"/>
                          </a:solidFill>
                          <a:latin typeface="Calibri"/>
                        </a:rPr>
                        <a:t>0,892±0,025</a:t>
                      </a:r>
                    </a:p>
                  </a:txBody>
                  <a:tcPr anchor="ctr">
                    <a:solidFill>
                      <a:srgbClr val="DCE8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повтор на новых разбиениях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126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0,906±0,028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0,897±0,025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79476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B2733"/>
                </a:solidFill>
                <a:latin typeface="Calibri"/>
              </a:rPr>
              <a:t>•  Лучшая конфигурация: окно 30 шагов (2 с при 15 кадр/с), доля кадров с позой не ниже 0,7, только точки, без confidence, скоростей и аугментаций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B2733"/>
                </a:solidFill>
                <a:latin typeface="Calibri"/>
              </a:rPr>
              <a:t>•  Контроль по метаданным на тех же 126 видео: 0,804. GBM на тех же признаках: 0,874±0,014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B2733"/>
                </a:solidFill>
                <a:latin typeface="Calibri"/>
              </a:rPr>
              <a:t>•  Окна 60–90 шагов оцениваются на 46–85 видео без части камерных клипов, прямое сравнение с T=30 ограничено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760720"/>
            <a:ext cx="11064240" cy="59436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779007"/>
            <a:ext cx="10698480" cy="5577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733"/>
                </a:solidFill>
                <a:latin typeface="Calibri"/>
              </a:rPr>
              <a:t>Короткое окно и простые признаки дают максимум: lstm 0,911 и 0,906 на новых разбиениях. Часть выигрыша относится к изменению состава видео (126 против 100).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F4E79"/>
                </a:solidFill>
                <a:latin typeface="Calibri"/>
              </a:rPr>
              <a:t>Сравнение детекторов YOLO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3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9AA5B1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B"/>
                </a:solidFill>
                <a:latin typeface="Calibri"/>
              </a:rPr>
              <a:t>Цель: оценить влияние замены детектора собаки на находимость и на классификатор</a:t>
            </a:r>
          </a:p>
        </p:txBody>
      </p:sp>
      <p:pic>
        <p:nvPicPr>
          <p:cNvPr id="6" name="Picture 5" descr="customer_det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072" y="1600200"/>
            <a:ext cx="9835375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548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B2733"/>
                </a:solidFill>
                <a:latin typeface="Calibri"/>
              </a:rPr>
              <a:t>•  Точки переизвлечены с yolo26s при imgsz 1280: пригодных видео 135 против 126 (общих 112)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B2733"/>
                </a:solidFill>
                <a:latin typeface="Calibri"/>
              </a:rPr>
              <a:t>•  Контроль по метаданным на новом наборе видео вырос с 0,804 до 0,866, поэтому часть изменений относится к составу видео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760720"/>
            <a:ext cx="11064240" cy="59436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779007"/>
            <a:ext cx="10698480" cy="5577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733"/>
                </a:solidFill>
                <a:latin typeface="Calibri"/>
              </a:rPr>
              <a:t>На общих видео lstm 0,914 и 0,916 (различий нет), tcn 0,892 и 0,882; transformer 0,866 и 0,905, mamba 0,878 и 0,896. Находимость собак на 120 кадрах: 153 (прежняя конфигурация сервиса) → 234.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F4E79"/>
                </a:solidFill>
                <a:latin typeface="Calibri"/>
              </a:rPr>
              <a:t>Развёртывание сервиса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3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9AA5B1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B"/>
                </a:solidFill>
                <a:latin typeface="Calibri"/>
              </a:rPr>
              <a:t>Цель: зафиксировать текущее состояние production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83080"/>
          <a:ext cx="1106424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13816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Параметр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Значение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2733"/>
                          </a:solidFill>
                          <a:latin typeface="Calibri"/>
                        </a:rPr>
                        <a:t>Детектор собаки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733"/>
                          </a:solidFill>
                          <a:latin typeface="Calibri"/>
                        </a:rPr>
                        <a:t>yolo26s, imgsz 1280 (прежде yolo11n, 640)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2733"/>
                          </a:solidFill>
                          <a:latin typeface="Calibri"/>
                        </a:rPr>
                        <a:t>Классификатор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733"/>
                          </a:solidFill>
                          <a:latin typeface="Calibri"/>
                        </a:rPr>
                        <a:t>компактная LSTM, окно 120 кадров, порог 0,8, health-check раз в 6 часов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2733"/>
                          </a:solidFill>
                          <a:latin typeface="Calibri"/>
                        </a:rPr>
                        <a:t>Потоки в анализе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733"/>
                          </a:solidFill>
                          <a:latin typeface="Calibri"/>
                        </a:rPr>
                        <a:t>7: 2 камеры собачьего парка и 5 парковых и уличных камер (YouTube)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2733"/>
                          </a:solidFill>
                          <a:latin typeface="Calibri"/>
                        </a:rPr>
                        <a:t>Хранение клипов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733"/>
                          </a:solidFill>
                          <a:latin typeface="Calibri"/>
                        </a:rPr>
                        <a:t>Яндекс Диск (загрузка работает), локальная копия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2733"/>
                          </a:solidFill>
                          <a:latin typeface="Calibri"/>
                        </a:rPr>
                        <a:t>Нагрузка (CPU, Docker)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733"/>
                          </a:solidFill>
                          <a:latin typeface="Calibri"/>
                        </a:rPr>
                        <a:t>около 360% процессора, память 8,4 ГБ из 15,6 ГБ, стабильна за 10 минут замера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2733"/>
                          </a:solidFill>
                          <a:latin typeface="Calibri"/>
                        </a:rPr>
                        <a:t>Охват оценкой LSTM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733"/>
                          </a:solidFill>
                          <a:latin typeface="Calibri"/>
                        </a:rPr>
                        <a:t>7 и 8 клипов из 30 (прежний и новый детектор), окно 120 кадров заполняется не всегда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760720"/>
            <a:ext cx="11064240" cy="59436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779007"/>
            <a:ext cx="10698480" cy="5577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733"/>
                </a:solidFill>
                <a:latin typeface="Calibri"/>
              </a:rPr>
              <a:t>Приюты и вольеры были исключены из анализа: дефекации в них не ожидается. Включены парки и городские камеры.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F4E79"/>
                </a:solidFill>
                <a:latin typeface="Calibri"/>
              </a:rPr>
              <a:t>Ограничения и статус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3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9AA5B1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B"/>
                </a:solidFill>
                <a:latin typeface="Calibri"/>
              </a:rPr>
              <a:t>Цель: зафиксировать, что результаты не покрывают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1064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B2733"/>
                </a:solidFill>
                <a:latin typeface="Calibri"/>
              </a:rPr>
              <a:t>•  Объём данных: 166 видео (около 22 минут), положительных примеров с камер парков нет, доменный сдвиг камер не измерен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B2733"/>
                </a:solidFill>
                <a:latin typeface="Calibri"/>
              </a:rPr>
              <a:t>•  Оценка идёт на уровне ролика, ложные тревоги на непрерывном потоке не измерены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B2733"/>
                </a:solidFill>
                <a:latin typeface="Calibri"/>
              </a:rPr>
              <a:t>•  Порог 0,8 в сервисе не калиброван: на клипах «норма» модель давала вероятность выше 0,8 в 4–5 из 7–8 оценённых клипов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B2733"/>
                </a:solidFill>
                <a:latin typeface="Calibri"/>
              </a:rPr>
              <a:t>•  Модель в сервисе обучена на точках, полученных прежним детектором, и не переобучалась на yolo26s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B2733"/>
                </a:solidFill>
                <a:latin typeface="Calibri"/>
              </a:rPr>
              <a:t>•  Метрика recall при 10% ложных тревог шумная при ~70 нормальных видео, между запусками меняется заметно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B2733"/>
                </a:solidFill>
                <a:latin typeface="Calibri"/>
              </a:rPr>
              <a:t>•  Единицы оценки отличаются от первой версии (окна против видео), прямое сравнение цифр некорректно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