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200" b="1">
                <a:solidFill>
                  <a:srgbClr val="FFFFFF"/>
                </a:solidFill>
                <a:latin typeface="Calibri"/>
              </a:rPr>
              <a:t>Как улучшить детекцию дефекации по скелету собаки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319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C9D8E8"/>
                </a:solidFill>
                <a:latin typeface="Calibri"/>
              </a:rPr>
              <a:t>55 экспериментов на честном протоколе: модели, группы точек, окна, признаки, сдвиг домена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07B39"/>
                </a:solidFill>
                <a:latin typeface="Calibri"/>
              </a:rPr>
              <a:t>166 видео · разбиение по источникам · 5 фолдов × несколько сидов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E79"/>
                </a:solidFill>
                <a:latin typeface="Calibri"/>
              </a:rPr>
              <a:t>Что с данными: главная проблема - подсказки вместо поведения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3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9AA5B1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69494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B2733"/>
                </a:solidFill>
                <a:latin typeface="Calibri"/>
              </a:rPr>
              <a:t>•  166 видео, всего около 22 минут: 106 «норма» и 60 «дефекация»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B2733"/>
                </a:solidFill>
                <a:latin typeface="Calibri"/>
              </a:rPr>
              <a:t>•  64 клипа с камер парков есть только в классе «норма»; положительных клипов с камер нет совсем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B2733"/>
                </a:solidFill>
                <a:latin typeface="Calibri"/>
              </a:rPr>
              <a:t>•  1080p: 65 из 106 нормальных видео и 1 из 60 с дефекацией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B2733"/>
                </a:solidFill>
                <a:latin typeface="Calibri"/>
              </a:rPr>
              <a:t>•  Окна по 3-4 секунды дают только 100-132 видео из 166: в остальных собака найдена не в каждом кадре или ролик слишком короткий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B2733"/>
                </a:solidFill>
                <a:latin typeface="Calibri"/>
              </a:rPr>
              <a:t>•  Классификатор, который видит только разрешение, fps и длительность, получает ROC-AUC 0.81: ответ можно угадать, не глядя на собаку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280160"/>
            <a:ext cx="3840480" cy="228600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1371600"/>
            <a:ext cx="3474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5483A"/>
                </a:solidFill>
                <a:latin typeface="Calibri"/>
              </a:rPr>
              <a:t>Контроль «только метаданные»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920240"/>
            <a:ext cx="3474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B5483A"/>
                </a:solidFill>
                <a:latin typeface="Calibri"/>
              </a:rPr>
              <a:t>AUC 0.81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B5483A"/>
                </a:solidFill>
                <a:latin typeface="Calibri"/>
              </a:rPr>
              <a:t>recall при 10% ложных тревог: 0.37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3749039"/>
            <a:ext cx="3840480" cy="228600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3840480"/>
            <a:ext cx="3474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9AA5B1"/>
                </a:solidFill>
                <a:latin typeface="Calibri"/>
              </a:rPr>
              <a:t>Только форма рамки собаки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4389120"/>
            <a:ext cx="3474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555555"/>
                </a:solidFill>
                <a:latin typeface="Calibri"/>
              </a:rPr>
              <a:t>AUC 0.71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555555"/>
                </a:solidFill>
                <a:latin typeface="Calibri"/>
              </a:rPr>
              <a:t>ложные на камерах: 0.43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E79"/>
                </a:solidFill>
                <a:latin typeface="Calibri"/>
              </a:rPr>
              <a:t>Как измеряем: честнее, чем в первом ноутбуке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3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9AA5B1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6675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1B2733"/>
                </a:solidFill>
                <a:latin typeface="Calibri"/>
              </a:rPr>
              <a:t>•  YOLO-проход делается один раз: сохраняем сырой скелет (20 точек + confidence) по каждому кадру, дальше эксперименты считаются за секунды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1B2733"/>
                </a:solidFill>
                <a:latin typeface="Calibri"/>
              </a:rPr>
              <a:t>•  Видео приводятся к 15 кадр/с; окно 30-45 шагов - то есть 2-3 секунды реального времени независимо от fps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1B2733"/>
                </a:solidFill>
                <a:latin typeface="Calibri"/>
              </a:rPr>
              <a:t>•  Признаки не зависят от разрешения: центр и масштаб тела, разворот собаки по оси позвоночника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1B2733"/>
                </a:solidFill>
                <a:latin typeface="Calibri"/>
              </a:rPr>
              <a:t>•  Разбиение по источникам: нарезки одного ролика и одноимённые ролики из разных классов в одной группе, 5 фолдов, несколько сидов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1B2733"/>
                </a:solidFill>
                <a:latin typeface="Calibri"/>
              </a:rPr>
              <a:t>•  Оценка на уровне видео (среднее трёх лучших окон), а не окон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280160"/>
            <a:ext cx="4114800" cy="475488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1371600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Метрики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192024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B2733"/>
                </a:solidFill>
                <a:latin typeface="Calibri"/>
              </a:rPr>
              <a:t>•  рабочие: precision, recall, specificity, F1, MCC при пороге 0,5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B2733"/>
                </a:solidFill>
                <a:latin typeface="Calibri"/>
              </a:rPr>
              <a:t>•  recall при 10% ложных тревог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B2733"/>
                </a:solidFill>
                <a:latin typeface="Calibri"/>
              </a:rPr>
              <a:t>•  ложные срабатывания на видео с камер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B2733"/>
                </a:solidFill>
                <a:latin typeface="Calibri"/>
              </a:rPr>
              <a:t>•  AUC и AP как вспомогательные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B2733"/>
                </a:solidFill>
                <a:latin typeface="Calibri"/>
              </a:rPr>
              <a:t>•  калибровка: Brier, ECE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B2733"/>
                </a:solidFill>
                <a:latin typeface="Calibri"/>
              </a:rPr>
              <a:t>•  контроли: только метаданные, только форма рамки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B5483A"/>
                </a:solidFill>
                <a:latin typeface="Calibri"/>
              </a:rPr>
              <a:t>Шум между прогонами ≈ ±0,01-0,025 AUC: идентичная конфигурация tcn дала 0,842 и 0,854. Меньшие различия считаем несущественными.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E79"/>
                </a:solidFill>
                <a:latin typeface="Calibri"/>
              </a:rPr>
              <a:t>Модели: простой бустинг не хуже нейросетей, ST-GCN слабее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3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9AA5B1"/>
                </a:solidFill>
                <a:latin typeface="Calibri"/>
              </a:rPr>
              <a:t>4</a:t>
            </a:r>
          </a:p>
        </p:txBody>
      </p:sp>
      <p:pic>
        <p:nvPicPr>
          <p:cNvPr id="5" name="Picture 4" descr="z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320" y="1188720"/>
            <a:ext cx="8910879" cy="3931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212079"/>
            <a:ext cx="11064240" cy="118872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239512"/>
            <a:ext cx="10698480" cy="11338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733"/>
                </a:solidFill>
                <a:latin typeface="Calibri"/>
              </a:rPr>
              <a:t>gbm 0.89/0.87 (с рамкой/без) · lstm 0.86 · tcn 0.84 · transformer 0.83 · mamba 0.85 · stgcn 0.80 (только точки).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733"/>
                </a:solidFill>
                <a:latin typeface="Calibri"/>
              </a:rPr>
              <a:t>lstm, tcn, transformer и Mamba различаются в пределах шума: на окнах в 3 секунды ни Mamba, ни внимание преимуществ не дали. ST-GCN в базовом виде почти не отличается от контроля по метаданным.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E79"/>
                </a:solidFill>
                <a:latin typeface="Calibri"/>
              </a:rPr>
              <a:t>Рабочие метрики: 50-65% дефекаций при 10% ложных тревог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3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9AA5B1"/>
                </a:solidFill>
                <a:latin typeface="Calibri"/>
              </a:rPr>
              <a:t>5</a:t>
            </a:r>
          </a:p>
        </p:txBody>
      </p:sp>
      <p:pic>
        <p:nvPicPr>
          <p:cNvPr id="5" name="Picture 4" descr="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330797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212079"/>
            <a:ext cx="11064240" cy="118872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239512"/>
            <a:ext cx="10698480" cy="11338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733"/>
                </a:solidFill>
                <a:latin typeface="Calibri"/>
              </a:rPr>
              <a:t>При пороге 0,5 у lstm: precision 0.70, recall 0.84, specificity 0.73; gbm находит 0.60 при 10% ложных тревог (метаданные: 0.37).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733"/>
                </a:solidFill>
                <a:latin typeface="Calibri"/>
              </a:rPr>
              <a:t>Калибровка слабая (ECE 0.19-0.29): порог в video-scan нужно подбирать заново, а не считать выходы вероятностями.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E79"/>
                </a:solidFill>
                <a:latin typeface="Calibri"/>
              </a:rPr>
              <a:t>Группировка точек: ни одна группа не лучше всех 20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3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9AA5B1"/>
                </a:solidFill>
                <a:latin typeface="Calibri"/>
              </a:rPr>
              <a:t>6</a:t>
            </a:r>
          </a:p>
        </p:txBody>
      </p:sp>
      <p:pic>
        <p:nvPicPr>
          <p:cNvPr id="5" name="Picture 4" descr="groups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389900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212079"/>
            <a:ext cx="11064240" cy="118872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239512"/>
            <a:ext cx="10698480" cy="11338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733"/>
                </a:solidFill>
                <a:latin typeface="Calibri"/>
              </a:rPr>
              <a:t>tcn: все 20 точек 0.85; таз+хвост 0.85 (в пределах шума); только передние лапы 0.84, но ложные на камерах 0.36 против 0.08 у полного набора.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733"/>
                </a:solidFill>
                <a:latin typeface="Calibri"/>
              </a:rPr>
              <a:t>Хвост, таз или лапы по отдельности заметно слабее (0,77-0,78 у tcn). Гипотеза «для дефекации хватит таза и хвоста» держится по AUC, но выигрыша не даёт.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E79"/>
                </a:solidFill>
                <a:latin typeface="Calibri"/>
              </a:rPr>
              <a:t>Что теряем, если убрать группу точек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3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9AA5B1"/>
                </a:solidFill>
                <a:latin typeface="Calibri"/>
              </a:rPr>
              <a:t>7</a:t>
            </a:r>
          </a:p>
        </p:txBody>
      </p:sp>
      <p:pic>
        <p:nvPicPr>
          <p:cNvPr id="5" name="Picture 4" descr="groups_d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1188720"/>
            <a:ext cx="7680960" cy="38404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120640"/>
            <a:ext cx="11064240" cy="128016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148072"/>
            <a:ext cx="10698480" cy="12252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733"/>
                </a:solidFill>
                <a:latin typeface="Calibri"/>
              </a:rPr>
              <a:t>Базовый режим: убрать таз или хвост стоит 0,02-0,03 AUC у tcn (0.83 и 0.83 против 0.85), позвоночник или лапы - в пределах шума.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733"/>
                </a:solidFill>
                <a:latin typeface="Calibri"/>
              </a:rPr>
              <a:t>Лучший режим (следующий слайд): без хвоста и без задних лап потерь нет, а без таза или позвоночника минус около 0,025. Важность отдельных групп нестабильна: сигнал распределён по всему телу.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E79"/>
                </a:solidFill>
                <a:latin typeface="Calibri"/>
              </a:rPr>
              <a:t>Куда смотрит модель: внимание по суставам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3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9AA5B1"/>
                </a:solidFill>
                <a:latin typeface="Calibri"/>
              </a:rPr>
              <a:t>8</a:t>
            </a:r>
          </a:p>
        </p:txBody>
      </p:sp>
      <p:pic>
        <p:nvPicPr>
          <p:cNvPr id="5" name="Picture 4" descr="joint_att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196" y="1188720"/>
            <a:ext cx="10017127" cy="38404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120640"/>
            <a:ext cx="11064240" cy="128016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148072"/>
            <a:ext cx="10698480" cy="12252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733"/>
                </a:solidFill>
                <a:latin typeface="Calibri"/>
              </a:rPr>
              <a:t>Доля внимания по группам: позвоночник 24%, передние лапы 24%, задние лапы 23%, хвост 17%, таз 12%.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733"/>
                </a:solidFill>
                <a:latin typeface="Calibri"/>
              </a:rPr>
              <a:t>Сильнее всего выделены концы конечностей (передняя лапа, задняя лапа, кончик хвоста). Осторожно: это самая слабая из моделей, и внимание может отражать домен, а не позу.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E79"/>
                </a:solidFill>
                <a:latin typeface="Calibri"/>
              </a:rPr>
              <a:t>Окно и порог: короткие окна лучше и возвращают видео в обучение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3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9AA5B1"/>
                </a:solidFill>
                <a:latin typeface="Calibri"/>
              </a:rPr>
              <a:t>9</a:t>
            </a:r>
          </a:p>
        </p:txBody>
      </p:sp>
      <p:pic>
        <p:nvPicPr>
          <p:cNvPr id="5" name="Picture 4" descr="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37490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212079"/>
            <a:ext cx="11064240" cy="118872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239512"/>
            <a:ext cx="10698480" cy="11338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733"/>
                </a:solidFill>
                <a:latin typeface="Calibri"/>
              </a:rPr>
              <a:t>Окно 30 шагов (2 с): tcn 0.86, 114 видео; при пороге 0,7 0.89 на 126 видео. Окна 60 и 90 шагов хуже и теряют камерные клипы (46-85 видео).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733"/>
                </a:solidFill>
                <a:latin typeface="Calibri"/>
              </a:rPr>
              <a:t>Сравнивать столбцы с разным числом видео нужно осторожно: набор видео для оценки меняется, поэтому длинные окна выглядят хуже отчасти из-за потери данных.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E79"/>
                </a:solidFill>
                <a:latin typeface="Calibri"/>
              </a:rPr>
              <a:t>Признаки и обучение: лишнее вредит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3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9AA5B1"/>
                </a:solidFill>
                <a:latin typeface="Calibri"/>
              </a:rPr>
              <a:t>10</a:t>
            </a:r>
          </a:p>
        </p:txBody>
      </p:sp>
      <p:pic>
        <p:nvPicPr>
          <p:cNvPr id="5" name="Picture 4" descr="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456" y="1188720"/>
            <a:ext cx="9436608" cy="3931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212079"/>
            <a:ext cx="11064240" cy="118872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239512"/>
            <a:ext cx="10698480" cy="11338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733"/>
                </a:solidFill>
                <a:latin typeface="Calibri"/>
              </a:rPr>
              <a:t>Без аугментаций lstm 0.87, tcn 0.87; без confidence lstm 0.87; «минимум» (без confidence, скоростей и аугментаций): lstm 0.90, tcn 0.87, stgcn 0.86.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733"/>
                </a:solidFill>
                <a:latin typeface="Calibri"/>
              </a:rPr>
              <a:t>Мои аугментации скелета (поворот, масштаб, выпадение точек) на таком малом датасете скорее мешали. Больше эпох не помогает: tcn 20/40/80 эпох = 0.82/0.85/0.85, stgcn при 80 эпохах переобучается (0.77).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E79"/>
                </a:solidFill>
                <a:latin typeface="Calibri"/>
              </a:rPr>
              <a:t>Лучшая конфигурация и проверка на новых разбиениях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3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9AA5B1"/>
                </a:solidFill>
                <a:latin typeface="Calibri"/>
              </a:rPr>
              <a:t>11</a:t>
            </a:r>
          </a:p>
        </p:txBody>
      </p:sp>
      <p:pic>
        <p:nvPicPr>
          <p:cNvPr id="5" name="Picture 4" descr="b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19" cy="365531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212079"/>
            <a:ext cx="11064240" cy="118872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239512"/>
            <a:ext cx="10698480" cy="11338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733"/>
                </a:solidFill>
                <a:latin typeface="Calibri"/>
              </a:rPr>
              <a:t>Окно 30 шагов, порог 0,7, без рамки, confidence, скоростей и аугментаций (126 видео): lstm 0.91±0.017, tcn 0.89, mamba 0.88, stgcn 0.87, gbm 0.87. Контроль по метаданным на тех же видео: 0.80. Повтор на новых разбиениях: lstm 0.91, tcn 0.90, mamba 0.87, transformer 0.87.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733"/>
                </a:solidFill>
                <a:latin typeface="Calibri"/>
              </a:rPr>
              <a:t>Подбор шёл на тех же данных, что и оценка, поэтому цифры оптимистичны; повтор на других разбиениях показывает, сколько из прироста держится.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E79"/>
                </a:solidFill>
                <a:latin typeface="Calibri"/>
              </a:rPr>
              <a:t>Группы точек в лучшей конфигурации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3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9AA5B1"/>
                </a:solidFill>
                <a:latin typeface="Calibri"/>
              </a:rPr>
              <a:t>12</a:t>
            </a:r>
          </a:p>
        </p:txBody>
      </p:sp>
      <p:pic>
        <p:nvPicPr>
          <p:cNvPr id="5" name="Picture 4" descr="best_gro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19" cy="365531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120640"/>
            <a:ext cx="11064240" cy="128016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148072"/>
            <a:ext cx="10698480" cy="12252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733"/>
                </a:solidFill>
                <a:latin typeface="Calibri"/>
              </a:rPr>
              <a:t>Полный набор: lstm 0.91, tcn 0.89. Таз+хвост: lstm 0.88, tcn 0.88. Без таза: 0.88/0.88, без хвоста: 0.91/0.90.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733"/>
                </a:solidFill>
                <a:latin typeface="Calibri"/>
              </a:rPr>
              <a:t>Таз+хвост хуже полного набора примерно на 0,03 (за пределами шума), без хвоста или задних лап потерь нет. Полный набор не уступает ни одной группе; единственный стабильный вывод - сигнал не сосредоточен в одной группе.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E79"/>
                </a:solidFill>
                <a:latin typeface="Calibri"/>
              </a:rPr>
              <a:t>Сдвиг домена: модель без камерных клипов ошибается на камерах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3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9AA5B1"/>
                </a:solidFill>
                <a:latin typeface="Calibri"/>
              </a:rPr>
              <a:t>13</a:t>
            </a:r>
          </a:p>
        </p:txBody>
      </p:sp>
      <p:pic>
        <p:nvPicPr>
          <p:cNvPr id="5" name="Picture 4" descr="do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188720"/>
            <a:ext cx="11009376" cy="3931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212079"/>
            <a:ext cx="11064240" cy="118872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239512"/>
            <a:ext cx="10698480" cy="11338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733"/>
                </a:solidFill>
                <a:latin typeface="Calibri"/>
              </a:rPr>
              <a:t>Если убрать камерные клипы из обучения, ложные срабатывания на камерах растут: lstm 0.04 → 0.34, tcn 0.10 → 0.39. В лучшей конфигурации без камерных клипов в обучении: lstm 0.88 (было 0.91), ложные на камерах 0.29 (было 0.06).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733"/>
                </a:solidFill>
                <a:latin typeface="Calibri"/>
              </a:rPr>
              <a:t>Для реальной работы на камерах нужны камерные клипы в обучении, включая положительные: сейчас их нет вообще.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E79"/>
                </a:solidFill>
                <a:latin typeface="Calibri"/>
              </a:rPr>
              <a:t>Ошибки по роликам: что проверить в разметке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3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9AA5B1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Calibri"/>
              </a:rPr>
              <a:t>Из 57 нормальных видео 17 получили оценку ≥ 0,5; из 43 видео с дефекацией 5 получили &lt; 0,5.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486400" cy="448056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5483A"/>
                </a:solidFill>
                <a:latin typeface="Calibri"/>
              </a:rPr>
              <a:t>Норма с высокой оценкой дефекации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1B2733"/>
                </a:solidFill>
                <a:latin typeface="Calibri"/>
              </a:rPr>
              <a:t>•  istockphoto-1438398070-640_adpp_is.mp4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1B2733"/>
                </a:solidFill>
                <a:latin typeface="Calibri"/>
              </a:rPr>
              <a:t>•  Как какает собака (online-video-cutter.com).mp4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1B2733"/>
                </a:solidFill>
                <a:latin typeface="Calibri"/>
              </a:rPr>
              <a:t>•  istockphoto-498561272-640_adpp_is.mp4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1B2733"/>
                </a:solidFill>
                <a:latin typeface="Calibri"/>
              </a:rPr>
              <a:t>•  istockphoto-1484754755-640_adpp_is.mp4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1B2733"/>
                </a:solidFill>
                <a:latin typeface="Calibri"/>
              </a:rPr>
              <a:t>•  nodf_cinquez_dog_park_east_cam_11_05_2026-17-02-06.mp4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1B2733"/>
                </a:solidFill>
                <a:latin typeface="Calibri"/>
              </a:rPr>
              <a:t>•  Смешные собаки 2021 Попробуй не засмейся! Лучшие приколы про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1B2733"/>
                </a:solidFill>
                <a:latin typeface="Calibri"/>
              </a:rPr>
              <a:t>•  istockphoto-1408666288-640_adpp_is.mp4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394960" cy="448056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Calibri"/>
              </a:rPr>
              <a:t>Дефекация с низкой оценкой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1B2733"/>
                </a:solidFill>
                <a:latin typeface="Calibri"/>
              </a:rPr>
              <a:t>•  Download.mp4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1B2733"/>
                </a:solidFill>
                <a:latin typeface="Calibri"/>
              </a:rPr>
              <a:t>•  istockphoto-853959698-640_adpp_is.mp4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1B2733"/>
                </a:solidFill>
                <a:latin typeface="Calibri"/>
              </a:rPr>
              <a:t>•  istockphoto-1194385828-640_adpp_is.mp4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1B2733"/>
                </a:solidFill>
                <a:latin typeface="Calibri"/>
              </a:rPr>
              <a:t>•  Download (3).mp4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1B2733"/>
                </a:solidFill>
                <a:latin typeface="Calibri"/>
              </a:rPr>
              <a:t>•  istockphoto-1498958799-640_adpp_is - Trim.mp4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1B2733"/>
                </a:solidFill>
                <a:latin typeface="Calibri"/>
              </a:rPr>
              <a:t>•  my dogs shitting. biggest dog shit. (online-video-cutter.com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1B2733"/>
                </a:solidFill>
                <a:latin typeface="Calibri"/>
              </a:rPr>
              <a:t>•  istockphoto-2148045950-640_adpp_is - Trim.mp4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E79"/>
                </a:solidFill>
                <a:latin typeface="Calibri"/>
              </a:rPr>
              <a:t>Что это значит для video-scan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3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9AA5B1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B2733"/>
                </a:solidFill>
                <a:latin typeface="Calibri"/>
              </a:rPr>
              <a:t>•  Модель из ноутбука в video-scan ставили в исходном виде (окно 120 шагов, с confidence, скоростями и аугментациями): по этим результатам эта конфигурация не лучшая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B2733"/>
                </a:solidFill>
                <a:latin typeface="Calibri"/>
              </a:rPr>
              <a:t>•  Короткое окно (30 шагов, 2 с) и простые признаки лучше (0.91 против 0.86 у lstm; наборы видео разные: 126 против 100) и подтвердились на новых разбиениях; их стоит перенести в сервис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B2733"/>
                </a:solidFill>
                <a:latin typeface="Calibri"/>
              </a:rPr>
              <a:t>•  Порог 0,8 из config.json не откалиброван: подбирать по recall при допустимых ложных тревогах, а не по умолчанию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B2733"/>
                </a:solidFill>
                <a:latin typeface="Calibri"/>
              </a:rPr>
              <a:t>•  Без положительных клипов с камер модель не проверить на реальной задаче: единственный путь - собрать их (сейчас сервис ждёт срабатываний, а загрузка на Яндекс Диск не работает: токен отклоняется)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E79"/>
                </a:solidFill>
                <a:latin typeface="Calibri"/>
              </a:rPr>
              <a:t>Выводы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3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9AA5B1"/>
                </a:solidFill>
                <a:latin typeface="Calibri"/>
              </a:rP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566160" cy="347472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566160" cy="60000"/>
          </a:xfrm>
          <a:prstGeom prst="rect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B5483A"/>
                </a:solidFill>
                <a:latin typeface="Calibri"/>
              </a:rPr>
              <a:t>Данные важнее архитектуры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32004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B2733"/>
                </a:solidFill>
                <a:latin typeface="Calibri"/>
              </a:rPr>
              <a:t>Контроль по метаданным даёт AUC 0.81. Модели получают 0.86-0.91, но разрыв в рабочих метриках скромный.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371600"/>
            <a:ext cx="3566160" cy="347472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79" y="1371600"/>
            <a:ext cx="3566160" cy="60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155448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E07B39"/>
                </a:solidFill>
                <a:latin typeface="Calibri"/>
              </a:rPr>
              <a:t>Группировка точек не помогает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560320"/>
            <a:ext cx="32004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B2733"/>
                </a:solidFill>
                <a:latin typeface="Calibri"/>
              </a:rPr>
              <a:t>Ни одна группа не лучше всех 20 точек ни в базовом, ни в лучшем режиме. Сигнал распределён по телу: ни одна группа не необходима и не достаточна.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371600"/>
            <a:ext cx="3566160" cy="347472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19" y="1371600"/>
            <a:ext cx="3566160" cy="6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9" y="155448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4E79"/>
                </a:solidFill>
                <a:latin typeface="Calibri"/>
              </a:rPr>
              <a:t>Проще лучше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9" y="2560320"/>
            <a:ext cx="32004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B2733"/>
                </a:solidFill>
                <a:latin typeface="Calibri"/>
              </a:rPr>
              <a:t>Короткое окно, без confidence, скоростей и аугментаций; Mamba и внимание выигрыша не дали.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120640"/>
            <a:ext cx="11064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4E79"/>
                </a:solidFill>
                <a:latin typeface="Calibri"/>
              </a:rPr>
              <a:t>Дальше: положительные клипы с камер, разметка времени акта внутри роликов, проверка сомнительных меток, затем перенос лучшей конфигурации в video-scan.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E79"/>
                </a:solidFill>
                <a:latin typeface="Calibri"/>
              </a:rPr>
              <a:t>Ограничения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3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9AA5B1"/>
                </a:solidFill>
                <a:latin typeface="Calibri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B2733"/>
                </a:solidFill>
                <a:latin typeface="Calibri"/>
              </a:rPr>
              <a:t>•  Мало данных: 100-132 видео с окнами, около 22 минут; различия меньше ±0,02 AUC нельзя считать значимыми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B2733"/>
                </a:solidFill>
                <a:latin typeface="Calibri"/>
              </a:rPr>
              <a:t>•  Конфигурация подбиралась по этим же данным (55 сравнений): цифры лучшей конфигурации оптимистичны, независимого теста нет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B2733"/>
                </a:solidFill>
                <a:latin typeface="Calibri"/>
              </a:rPr>
              <a:t>•  Метка стоит на весь ролик, а не на момент акта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B2733"/>
                </a:solidFill>
                <a:latin typeface="Calibri"/>
              </a:rPr>
              <a:t>•  Класс «дефекация» не содержит камерных клипов, поэтому качество на реальных камерах оценить нельзя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B2733"/>
                </a:solidFill>
                <a:latin typeface="Calibri"/>
              </a:rPr>
              <a:t>•  Некоторые метки подозрительны (ролики «Как какает собака», «Pooping» в нормальном классе): часть «ошибок» может быть ошибками разметки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B2733"/>
                </a:solidFill>
                <a:latin typeface="Calibri"/>
              </a:rPr>
              <a:t>•  Mamba реализована упрощённо на чистом PyTorch (последовательный скан); на окнах в 2-3 с преимущества длинного контекста не проявляются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